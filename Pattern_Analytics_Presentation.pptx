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EUROPEAN BANKING INTELLIGENCE &amp; CAPITAL RISK</a:t>
            </a:r>
          </a:p>
          <a:p>
            <a:pPr>
              <a:spcAft>
                <a:spcPts val="1600"/>
              </a:spcAft>
              <a:defRPr sz="4000" b="1">
                <a:solidFill>
                  <a:srgbClr val="F8FAFC"/>
                </a:solidFill>
                <a:latin typeface="Arial"/>
              </a:defRPr>
            </a:pPr>
            <a:r>
              <a:t>Customer Segmentation &amp;</a:t>
            </a:r>
            <a:br/>
            <a:r>
              <a:t>Churn Pattern Analytics</a:t>
            </a:r>
          </a:p>
          <a:p>
            <a:pPr>
              <a:spcAft>
                <a:spcPts val="40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An Empirical Investigation of Behavioral Gradients, Capital Flight, and Cross-Market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62895" cy="17373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43484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RESEARCHER &amp; LEAD ANALYST:</a:t>
            </a:r>
          </a:p>
          <a:p>
            <a:pPr>
              <a:spcAft>
                <a:spcPts val="4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Panchaksharayya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B.Tech Student, Information Technology (Specialization: Augmented Reality &amp; Virtual Reality)</a:t>
            </a:r>
            <a:br/>
            <a:r>
              <a:t>Email: panchaksharayyas22@gmail.com  |  Focus: Quantitative Banking, Data Science &amp; Visual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Executive Summary: The Modern Banking Retention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2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THE PROBLEM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Retail customer churn causes irreversible damage to lifetime value (LTV), drives up customer acquisition costs by 5x-7x, and precipitates massive capital flight from core retail deposit balances under Basel III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THE ANALYTICS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Empirical segmentation across 10,000 European customer accounts (France, Germany, Spain). Evaluates 14 demographic, financial, and behavioral attributes to isolate predictive attrition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KEY OUTCOMES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Discovered the German Anomaly (32.4% churn), the Age 46-60 Danger Zone (56.2% churn), the Multi-Product Cliff (82.7% churn on 3+ products), and the €185.6M Wealth Paradox.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DEPLOYMENT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Production-grade Streamlit web intelligence platform, PostgreSQL analytical schema, and automated customer triage playbook for high-value account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Business Economics: Acquisition Costs vs. Retention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3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THE REPLACEMENT PENALTY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5x to 7x Cost Multiple: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Acquiring a new European retail banking depositor costs 500% to 700% more than retaining an existing relationship.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18 to 24-Month J-Curve: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New retail accounts operate at negative margin for up to 2 years due to KYC, compliance overhead, and onboarding subsidies.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Saturated Single Market: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Under PSD2 open banking and account-switching automation, cross-border switching barriers have completely dissolved.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CAPITAL LIQUIDITY RUNOFF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Core Deposit Stability: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Retail deposits represent the cheapest, most stable tier of capital under Basel III Liquidity Coverage Ratios (LCR).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Wholesale Substitution Penalty: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When core deposits flee, treasury desks must replace them with expensive interbank wholesale repo borrowings.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Strategic Questions Solved: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Where is balance attrition concentrated? What behavioral signals precede account closure? How do we proactively intervene?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Portfolio Benchmark Scorecard: 10,000 European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4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ANALYZED COHORT</a:t>
            </a:r>
          </a:p>
          <a:p>
            <a:pPr>
              <a:spcAft>
                <a:spcPts val="6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t>10,000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Customer records across France, Germany, Spain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43F5E"/>
                </a:solidFill>
                <a:latin typeface="Arial"/>
              </a:defRPr>
            </a:pPr>
            <a:r>
              <a:t>PORTFOLIO CHURN RATE</a:t>
            </a:r>
          </a:p>
          <a:p>
            <a:pPr>
              <a:spcAft>
                <a:spcPts val="6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t>20.37%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2,037 accounts fully defected from the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288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  <a:latin typeface="Arial"/>
              </a:defRPr>
            </a:pPr>
            <a:r>
              <a:t>HIGH-VALUE ATTRITION</a:t>
            </a:r>
          </a:p>
          <a:p>
            <a:pPr>
              <a:spcAft>
                <a:spcPts val="6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t>28.67%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+8.30% higher than portfolio average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2194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288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855F7"/>
                </a:solidFill>
                <a:latin typeface="Arial"/>
              </a:defRPr>
            </a:pPr>
            <a:r>
              <a:t>TOTAL BALANCE FLIGHT</a:t>
            </a:r>
          </a:p>
          <a:p>
            <a:pPr>
              <a:spcAft>
                <a:spcPts val="600"/>
              </a:spcAft>
              <a:defRPr sz="2800" b="1">
                <a:solidFill>
                  <a:srgbClr val="F8FAFC"/>
                </a:solidFill>
                <a:latin typeface="Arial"/>
              </a:defRPr>
            </a:pPr>
            <a:r>
              <a:t>€185.6M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Direct core deposit liquidation from churned 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728655" cy="2011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KEY ARCHITECTURAL INSIGHT: THE CAPITAL CONCENTRATION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While standard reporting treats each customer departure as an equal 1-unit loss, financial exposure analytics reveals extreme skew. 691 High-Value Customers accounted for €83.38 Million of the total €185.59M balance flight (44.9% of all lost capital). Losing one high-value depositor is financially equivalent to losing 12 mass-market retail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Geographic Divergence: The German Subsidiary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5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56432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FRANCE (CORE MARKET)</a:t>
            </a:r>
          </a:p>
          <a:p>
            <a:pPr>
              <a:spcAft>
                <a:spcPts val="4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r>
              <a:t>16.15%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GRI: 0.79 · Low Risk</a:t>
            </a:r>
            <a:br/>
            <a:r>
              <a:t>5,014 Accounts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Baseline operating performance with high brand loyalty and stable fee tolerance.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56432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GERMANY (CRITICAL RISK)</a:t>
            </a:r>
          </a:p>
          <a:p>
            <a:pPr>
              <a:spcAft>
                <a:spcPts val="4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r>
              <a:t>32.44%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GRI: 1.59 · Severe Hazard</a:t>
            </a:r>
            <a:br/>
            <a:r>
              <a:t>2,509 Accounts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Exactly double the French churn rate. Driven by competitive fintech yields and account maintenance fees.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56432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82880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SPAIN (STABLE PERIPHERY)</a:t>
            </a:r>
          </a:p>
          <a:p>
            <a:pPr>
              <a:spcAft>
                <a:spcPts val="4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r>
              <a:t>16.67%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Arial"/>
              </a:defRPr>
            </a:pPr>
            <a:r>
              <a:t>GRI: 0.82 · Low Risk</a:t>
            </a:r>
            <a:br/>
            <a:r>
              <a:t>2,477 Accounts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Consistent retention aligned with France. Strong community and branch affinity.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Demographic Risk Gradients: The Age 46-60 Hazard Peak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6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&lt; 30 Years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7.52%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Lowest risk cohort. Digital-first, low balance, high growth potential.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30 - 45 Years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14.99%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Core borrowing segment. Mortgages and credit cards provide sticky anchors.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  <a:latin typeface="Arial"/>
              </a:defRPr>
            </a:pPr>
            <a:r>
              <a:t>46 - 60 Years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56.21%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CRITICAL HAZARD ZONE. Peak wealth accumulation; defecting to private wealth boutiques.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60+ Years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21.26%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Retirement cohort. Wealth preservation focus, moderate baseline attrition.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Cross-Selling Paradox: 2 Products Optimal, 3+ Cliff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7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1 Product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27.71%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Transactional exposure. Lack of sticky relationship banking hooks.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2 Products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7.58%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THE SWEET SPOT. Optimum balance between convenience and operational simplicity.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  <a:latin typeface="Arial"/>
              </a:defRPr>
            </a:pPr>
            <a:r>
              <a:t>3 Products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82.71%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CATASTROPHIC ATTRITION. Service friction, fee compounding, product fatigue.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3F5E"/>
                </a:solidFill>
                <a:latin typeface="Arial"/>
              </a:defRPr>
            </a:pPr>
            <a:r>
              <a:t>4 Products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  <a:latin typeface="Arial"/>
              </a:defRPr>
            </a:pPr>
            <a:r>
              <a:t>100.00%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TOTAL LIQUIDATION. 60 out of 60 accounts defected completely.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Wealth Paradox: Churners Hold 25.2% More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8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3F5E"/>
                </a:solidFill>
                <a:latin typeface="Arial"/>
              </a:defRPr>
            </a:pPr>
            <a:r>
              <a:t>CHURNED CUSTOMER PROFILE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€91,108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Average Ledger Balance of Churned Depositors</a:t>
            </a:r>
            <a:br/>
            <a:br/>
            <a:r>
              <a:t>• Affluent, yield-sensitive clients are migrating capital to competitors.</a:t>
            </a:r>
            <a:br/>
            <a:r>
              <a:t>• Total balance exposure liquidated: €185.59 Million across 2,037 defected accounts.</a:t>
            </a:r>
            <a:br/>
            <a:r>
              <a:t>• German accounts carry €119.7K avg balance with 32.4% attrition.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RETAINED CUSTOMER PROFILE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€72,745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Average Ledger Balance of Retained Depositors</a:t>
            </a:r>
            <a:br/>
            <a:br/>
            <a:r>
              <a:t>• Retained cohort includes 3,500+ zero-balance accounts in France and Spain.</a:t>
            </a:r>
            <a:br/>
            <a:r>
              <a:t>• Indicates that customers who stay are frequently lower-balance, fee-insensitive accounts.</a:t>
            </a:r>
            <a:br/>
            <a:r>
              <a:t>• Strategic danger: The bank is retaining low-margin volume while leaking affluent deposits.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Behavioral Engagement Signals: Active vs. Inactive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9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43F5E"/>
                </a:solidFill>
                <a:latin typeface="Arial"/>
              </a:defRPr>
            </a:pPr>
            <a:r>
              <a:t>INACTIVE ACCOUNTS (IS_ACTIVE = 0)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26.85%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Observed Churn Probability</a:t>
            </a:r>
            <a:br/>
            <a:br/>
            <a:r>
              <a:t>• 88% higher defection probability than active peers.</a:t>
            </a:r>
            <a:br/>
            <a:r>
              <a:t>• Dormancy is the single most reliable precursor to account liquidation.</a:t>
            </a:r>
            <a:br/>
            <a:r>
              <a:t>• Accounts typically cease logins and card swipes 60-90 days prior to formal account closure.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ACTIVE ACCOUNTS (IS_ACTIVE = 1)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14.27%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Observed Churn Probability</a:t>
            </a:r>
            <a:br/>
            <a:br/>
            <a:r>
              <a:t>• Sustained digital interaction provides strong operational resilience.</a:t>
            </a:r>
            <a:br/>
            <a:r>
              <a:t>• Monthly direct debits, mobile banking logins, and card swipes anchor the relationship.</a:t>
            </a:r>
            <a:br/>
            <a:r>
              <a:t>• Recommendation: Automate re-engagement workflows when an account has zero logins for 30 consecutive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Empirical Segmentation Matrix: Priority Risk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10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TIER 1: AFFLUENT MATURE GERMANS</a:t>
            </a:r>
          </a:p>
          <a:p>
            <a:pPr>
              <a:spcAft>
                <a:spcPts val="4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68.4% Churn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Age 46-60, Balance &gt; €100K, Germany, 1 or 3+ Products. Highest capital risk in the enterprise.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TIER 2: DISENGAGED MULTI-PRODUCT</a:t>
            </a:r>
          </a:p>
          <a:p>
            <a:pPr>
              <a:spcAft>
                <a:spcPts val="4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54.1% Churn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Inactive members holding 3+ products. Severe service friction and dormant relationship penalty.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TIER 3: YOUNG DIGITAL SAVERS</a:t>
            </a:r>
          </a:p>
          <a:p>
            <a:pPr>
              <a:spcAft>
                <a:spcPts val="4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7.5% Churn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Age &lt; 30, Active members with 2 products. Ideal target for long-term customer lifetime value expansion.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TIER 4: CORE RETAIL MAINSTREAM</a:t>
            </a:r>
          </a:p>
          <a:p>
            <a:pPr>
              <a:spcAft>
                <a:spcPts val="4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14.2% Churn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Age 30-45, Active members with home loans or salary direct deposits in France and Spain.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End-to-End System Architecture: From Ingestion to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11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1. DATA LAYER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PostgreSQL / Supabase + Parquet / CSV ingestion. Pre-computed materialized views for GRI, Age cohorts, and segment summaries.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2. ANALYTICS ENGINE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Python 3.13 modules (src/): vectorized pandas transformations, scikit-learn segmentation rules, financial exposure aggregations.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3. VISUALIZATION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Plotly Dark templates with glassmorphic cards, customized tooltips, responsive grids, and high-contrast color palettes.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43F5E"/>
                </a:solidFill>
                <a:latin typeface="Arial"/>
              </a:defRPr>
            </a:pPr>
            <a:r>
              <a:t>4. USER EXPERIENCE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Streamlit responsive single-page application with sticky sub-nav, multi-select filters, customer explorer, and CSV export.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Production Dashboard: Dark Cinematic Financial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12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Real-Time Multiselect Filters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Dynamic portfolio filtering across Geography, Gender, and Member Activity status with instantaneous re-aggregation.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Sticky Sub-Navigation Bar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Floating blur navbar with direct jump anchors to Executive Summary, Regional Landscape, Patterns, Risk, and Stories.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Individual Customer Explorer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Granular search by Customer ID or Surname, segment filtering, and on-demand CSV cohort export for outreach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High-Contrast Contrast CSS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Bespoke CSS styling with deep navy input containers, crimson badges, and gradient action buttons ensuring zero eye strain.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Strategic Retention Playbook: 4 Priority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13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PLAY 1: GERMAN MARKET RECALIBRATION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Abolish negative deposit interest and maintenance fees for balances &gt; €50K in Germany. Introduce competitive fixed-term yield certificates to halt capital flight to digital neo-banks.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PLAY 2: WEALTH-STAGE RETENTION (AGE 46-60)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Reassign accounts reaching age 45 with &gt; €80K balance to dedicated Premier Relationship Managers. Offer tax-advantaged retirement wrappers and wealth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PLAY 3: BUNDLE SIMPLIFICATION &amp; AUDIT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Cap aggressive 3rd and 4th product cross-selling quotas. Institute a 90-day onboarding concierge check-in for any customer acquiring an additional financial product.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855F7"/>
                </a:solidFill>
                <a:latin typeface="Arial"/>
              </a:defRPr>
            </a:pPr>
            <a:r>
              <a:t>PLAY 4: 30-DAY DORMANCY TRIGGER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Deploy automated automated SMS/App notification alerts when an active depositor ceases transactions for 30 consecutive days. Offer personalized zero-fee benefits.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Credentials &amp; Engineering Competencies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14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CORE TECHNICAL PROFICIENCIES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Advanced Data Engineering: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Vectorized data pipelines, automated cohort binning, SQL schema architecture with DDL &amp; analytical views.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Quantitative Financial Analytics: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Geographic Risk Indexing (GRI), churn hazard modelling, balance exposure quantification, LTV penalty calculations.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Modern Visual Analytics &amp; UX: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Interactive Plotly Dark data visualization, custom CSS design systems, accessible UI styling for fintech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DEVELOPER PROFILE &amp; ROLES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Panchaksharayya</a:t>
            </a:r>
            <a:br/>
            <a:r>
              <a:t>B.Tech Student (Information Technology · AR/VR)</a:t>
            </a:r>
            <a:br/>
            <a:r>
              <a:t>Email: panchaksharayyas22@gmail.com</a:t>
            </a:r>
            <a:br/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Ideal Candidate For:</a:t>
            </a:r>
            <a:br/>
            <a:r>
              <a:t>• Data Analyst / Quantitative Financial Analyst</a:t>
            </a:r>
            <a:br/>
            <a:r>
              <a:t>• Machine Learning / Data Science Associate</a:t>
            </a:r>
            <a:br/>
            <a:r>
              <a:t>• FinTech Product Analyst &amp; Solutions Architect</a:t>
            </a:r>
            <a:br/>
            <a:r>
              <a:t>• Visual Analytics &amp; Immersive UX Specialist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PATTERN ANALYTICS · EUROPEAN BANKING INTELLIGENCE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Scholarly &amp; Industry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Pattern Analytics · Panchaksharayya (B.Tech IT AR/VR) · panchaksharayyas22@gmail.com  |  Slide 15 of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FORMAL CITATIONS &amp; SCIENTIFIC SOURCES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[1] Boot, A. W. (2000). 'Relationship Banking: What Do We Know?' Journal of Financial Intermediation, 9(1), 7-25.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[2] Klemperer, P. (1995). 'Competition when Consumers have Switching Costs.' Review of Economic Studies, 62(4), 515-539.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[3] Modigliani, F. (1986). 'Life Cycle, Individual Thrift, and the Wealth of Nations.' The American Economic Review, 76(3), 297-313.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[4] Degryse, H., &amp; Ongena, S. (2007). 'The Impact of Technology and Regulation on the Geography of Banking.' Oxford Review of Economic Policy, 23(2), 265-285.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[5] Verhoef, P. C., Franses, P. H., &amp; Hoekstra, J. C. (2002). 'The Effect of Relational Constructs on Customer Potential.' Journal of Service Research, 4(3), 202-216.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[6] Basel Committee on Banking Supervision (2013). 'Basel III: The Liquidity Coverage Ratio and liquidity risk monitoring tools.' Bank for International Settlements (BIS).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[7] European Banking Authority (EBA) (2023). 'Risk Dashboard: Data as of Q4 2023.' European Union Financial Markets Authority.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solidFill>
              <a:srgbClr val="030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THANK YOU</a:t>
            </a:r>
          </a:p>
          <a:p>
            <a:pPr>
              <a:spcAft>
                <a:spcPts val="20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Customer Segmentation &amp; Churn Pattern Analytics in European Banking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Researcher &amp; Lead Analyst: Panchaksharayya</a:t>
            </a:r>
            <a:br/>
            <a:r>
              <a:t>Degree: B.Tech Student in Information Technology (Specialization: Augmented Reality &amp; Virtual Reality)</a:t>
            </a:r>
            <a:br/>
            <a:r>
              <a:t>Email: panchaksharayyas22@gmail.com</a:t>
            </a:r>
            <a:br/>
            <a:r>
              <a:t>Live Interactive Dashboard: http://localhost:8501</a:t>
            </a:r>
            <a:br/>
            <a:r>
              <a:t>GitHub Repository: Pattern Analytics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